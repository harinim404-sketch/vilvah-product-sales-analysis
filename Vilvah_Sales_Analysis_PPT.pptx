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8" r:id="rId4"/>
    <p:sldId id="267" r:id="rId5"/>
    <p:sldId id="27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6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5804D-49CE-4CA6-BA58-4855384298F7}" v="15" dt="2026-04-24T11:57:18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i M" userId="ab62f287dbe2328f" providerId="LiveId" clId="{DAF2AF42-C941-44D2-8F1B-7E4A1CC005D3}"/>
    <pc:docChg chg="custSel addSld delSld modSld sldOrd">
      <pc:chgData name="Harini M" userId="ab62f287dbe2328f" providerId="LiveId" clId="{DAF2AF42-C941-44D2-8F1B-7E4A1CC005D3}" dt="2026-04-24T11:57:18.074" v="115" actId="2711"/>
      <pc:docMkLst>
        <pc:docMk/>
      </pc:docMkLst>
      <pc:sldChg chg="modSp mod">
        <pc:chgData name="Harini M" userId="ab62f287dbe2328f" providerId="LiveId" clId="{DAF2AF42-C941-44D2-8F1B-7E4A1CC005D3}" dt="2026-04-24T11:55:45.703" v="113" actId="1076"/>
        <pc:sldMkLst>
          <pc:docMk/>
          <pc:sldMk cId="0" sldId="256"/>
        </pc:sldMkLst>
        <pc:spChg chg="mod">
          <ac:chgData name="Harini M" userId="ab62f287dbe2328f" providerId="LiveId" clId="{DAF2AF42-C941-44D2-8F1B-7E4A1CC005D3}" dt="2026-04-24T11:55:35.915" v="111" actId="1076"/>
          <ac:spMkLst>
            <pc:docMk/>
            <pc:sldMk cId="0" sldId="256"/>
            <ac:spMk id="2" creationId="{00000000-0000-0000-0000-000000000000}"/>
          </ac:spMkLst>
        </pc:spChg>
        <pc:picChg chg="mod">
          <ac:chgData name="Harini M" userId="ab62f287dbe2328f" providerId="LiveId" clId="{DAF2AF42-C941-44D2-8F1B-7E4A1CC005D3}" dt="2026-04-24T11:55:45.703" v="113" actId="1076"/>
          <ac:picMkLst>
            <pc:docMk/>
            <pc:sldMk cId="0" sldId="256"/>
            <ac:picMk id="5" creationId="{24967E29-7C81-7CE0-C76B-DCB2888EDD24}"/>
          </ac:picMkLst>
        </pc:picChg>
      </pc:sldChg>
      <pc:sldChg chg="modSp mod">
        <pc:chgData name="Harini M" userId="ab62f287dbe2328f" providerId="LiveId" clId="{DAF2AF42-C941-44D2-8F1B-7E4A1CC005D3}" dt="2026-04-24T11:42:34.412" v="13" actId="207"/>
        <pc:sldMkLst>
          <pc:docMk/>
          <pc:sldMk cId="0" sldId="258"/>
        </pc:sldMkLst>
        <pc:spChg chg="mod">
          <ac:chgData name="Harini M" userId="ab62f287dbe2328f" providerId="LiveId" clId="{DAF2AF42-C941-44D2-8F1B-7E4A1CC005D3}" dt="2026-04-24T11:42:34.412" v="13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Harini M" userId="ab62f287dbe2328f" providerId="LiveId" clId="{DAF2AF42-C941-44D2-8F1B-7E4A1CC005D3}" dt="2026-04-24T11:43:13.028" v="15" actId="207"/>
        <pc:sldMkLst>
          <pc:docMk/>
          <pc:sldMk cId="0" sldId="259"/>
        </pc:sldMkLst>
        <pc:spChg chg="mod">
          <ac:chgData name="Harini M" userId="ab62f287dbe2328f" providerId="LiveId" clId="{DAF2AF42-C941-44D2-8F1B-7E4A1CC005D3}" dt="2026-04-24T11:43:08.547" v="14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Harini M" userId="ab62f287dbe2328f" providerId="LiveId" clId="{DAF2AF42-C941-44D2-8F1B-7E4A1CC005D3}" dt="2026-04-24T11:43:13.028" v="15" actId="207"/>
          <ac:spMkLst>
            <pc:docMk/>
            <pc:sldMk cId="0" sldId="259"/>
            <ac:spMk id="10" creationId="{01D8FE33-C95E-2B37-CB64-1582ADC2B710}"/>
          </ac:spMkLst>
        </pc:spChg>
      </pc:sldChg>
      <pc:sldChg chg="modSp mod">
        <pc:chgData name="Harini M" userId="ab62f287dbe2328f" providerId="LiveId" clId="{DAF2AF42-C941-44D2-8F1B-7E4A1CC005D3}" dt="2026-04-24T11:42:03.843" v="10" actId="207"/>
        <pc:sldMkLst>
          <pc:docMk/>
          <pc:sldMk cId="2681182695" sldId="267"/>
        </pc:sldMkLst>
        <pc:spChg chg="mod">
          <ac:chgData name="Harini M" userId="ab62f287dbe2328f" providerId="LiveId" clId="{DAF2AF42-C941-44D2-8F1B-7E4A1CC005D3}" dt="2026-04-24T11:42:03.843" v="10" actId="207"/>
          <ac:spMkLst>
            <pc:docMk/>
            <pc:sldMk cId="2681182695" sldId="267"/>
            <ac:spMk id="6" creationId="{0EB280AB-8C1F-174E-ACDF-13246F28E658}"/>
          </ac:spMkLst>
        </pc:spChg>
      </pc:sldChg>
      <pc:sldChg chg="addSp delSp modSp add mod">
        <pc:chgData name="Harini M" userId="ab62f287dbe2328f" providerId="LiveId" clId="{DAF2AF42-C941-44D2-8F1B-7E4A1CC005D3}" dt="2026-04-24T11:57:18.074" v="115" actId="2711"/>
        <pc:sldMkLst>
          <pc:docMk/>
          <pc:sldMk cId="1072523801" sldId="268"/>
        </pc:sldMkLst>
        <pc:spChg chg="add">
          <ac:chgData name="Harini M" userId="ab62f287dbe2328f" providerId="LiveId" clId="{DAF2AF42-C941-44D2-8F1B-7E4A1CC005D3}" dt="2026-04-24T11:48:49.191" v="38"/>
          <ac:spMkLst>
            <pc:docMk/>
            <pc:sldMk cId="1072523801" sldId="268"/>
            <ac:spMk id="2" creationId="{1A78D342-588E-0D9D-1E3C-F85E8A56FD57}"/>
          </ac:spMkLst>
        </pc:spChg>
        <pc:spChg chg="add mod">
          <ac:chgData name="Harini M" userId="ab62f287dbe2328f" providerId="LiveId" clId="{DAF2AF42-C941-44D2-8F1B-7E4A1CC005D3}" dt="2026-04-24T11:57:18.074" v="115" actId="2711"/>
          <ac:spMkLst>
            <pc:docMk/>
            <pc:sldMk cId="1072523801" sldId="268"/>
            <ac:spMk id="3" creationId="{A4CF1B54-3B95-0319-3A5F-1221A494172A}"/>
          </ac:spMkLst>
        </pc:spChg>
        <pc:spChg chg="del mod">
          <ac:chgData name="Harini M" userId="ab62f287dbe2328f" providerId="LiveId" clId="{DAF2AF42-C941-44D2-8F1B-7E4A1CC005D3}" dt="2026-04-24T11:48:55.829" v="42"/>
          <ac:spMkLst>
            <pc:docMk/>
            <pc:sldMk cId="1072523801" sldId="268"/>
            <ac:spMk id="10" creationId="{F93A7C76-132A-B3D9-2334-FB507B39DB20}"/>
          </ac:spMkLst>
        </pc:spChg>
        <pc:spChg chg="mod">
          <ac:chgData name="Harini M" userId="ab62f287dbe2328f" providerId="LiveId" clId="{DAF2AF42-C941-44D2-8F1B-7E4A1CC005D3}" dt="2026-04-24T11:44:16.679" v="37" actId="20577"/>
          <ac:spMkLst>
            <pc:docMk/>
            <pc:sldMk cId="1072523801" sldId="268"/>
            <ac:spMk id="12" creationId="{CCF857D9-1C41-F421-BD3F-8F3438524777}"/>
          </ac:spMkLst>
        </pc:spChg>
      </pc:sldChg>
      <pc:sldChg chg="addSp delSp modSp add mod ord">
        <pc:chgData name="Harini M" userId="ab62f287dbe2328f" providerId="LiveId" clId="{DAF2AF42-C941-44D2-8F1B-7E4A1CC005D3}" dt="2026-04-24T11:55:01.864" v="102" actId="1076"/>
        <pc:sldMkLst>
          <pc:docMk/>
          <pc:sldMk cId="1588354607" sldId="269"/>
        </pc:sldMkLst>
        <pc:spChg chg="del mod">
          <ac:chgData name="Harini M" userId="ab62f287dbe2328f" providerId="LiveId" clId="{DAF2AF42-C941-44D2-8F1B-7E4A1CC005D3}" dt="2026-04-24T11:54:09.169" v="86" actId="478"/>
          <ac:spMkLst>
            <pc:docMk/>
            <pc:sldMk cId="1588354607" sldId="269"/>
            <ac:spMk id="2" creationId="{5DE56AF7-D3EA-F1A1-3901-D429F96B36D4}"/>
          </ac:spMkLst>
        </pc:spChg>
        <pc:spChg chg="del mod">
          <ac:chgData name="Harini M" userId="ab62f287dbe2328f" providerId="LiveId" clId="{DAF2AF42-C941-44D2-8F1B-7E4A1CC005D3}" dt="2026-04-24T11:50:20.710" v="51" actId="478"/>
          <ac:spMkLst>
            <pc:docMk/>
            <pc:sldMk cId="1588354607" sldId="269"/>
            <ac:spMk id="3" creationId="{E35C69D3-7780-926A-15F6-1F49D72A39BA}"/>
          </ac:spMkLst>
        </pc:spChg>
        <pc:spChg chg="add del mod">
          <ac:chgData name="Harini M" userId="ab62f287dbe2328f" providerId="LiveId" clId="{DAF2AF42-C941-44D2-8F1B-7E4A1CC005D3}" dt="2026-04-24T11:50:25" v="52" actId="478"/>
          <ac:spMkLst>
            <pc:docMk/>
            <pc:sldMk cId="1588354607" sldId="269"/>
            <ac:spMk id="6" creationId="{CA5B6A95-A82B-4898-EA6D-282483AE5A21}"/>
          </ac:spMkLst>
        </pc:spChg>
        <pc:spChg chg="add mod">
          <ac:chgData name="Harini M" userId="ab62f287dbe2328f" providerId="LiveId" clId="{DAF2AF42-C941-44D2-8F1B-7E4A1CC005D3}" dt="2026-04-24T11:55:01.864" v="102" actId="1076"/>
          <ac:spMkLst>
            <pc:docMk/>
            <pc:sldMk cId="1588354607" sldId="269"/>
            <ac:spMk id="7" creationId="{BD003E20-69AF-8A54-AFCF-E6EDFF4A9016}"/>
          </ac:spMkLst>
        </pc:spChg>
        <pc:picChg chg="add mod">
          <ac:chgData name="Harini M" userId="ab62f287dbe2328f" providerId="LiveId" clId="{DAF2AF42-C941-44D2-8F1B-7E4A1CC005D3}" dt="2026-04-24T11:54:54.030" v="101" actId="1076"/>
          <ac:picMkLst>
            <pc:docMk/>
            <pc:sldMk cId="1588354607" sldId="269"/>
            <ac:picMk id="9" creationId="{2C3C7841-DF45-12C9-53DC-3D43EE5AD039}"/>
          </ac:picMkLst>
        </pc:picChg>
      </pc:sldChg>
      <pc:sldChg chg="delSp modSp add mod">
        <pc:chgData name="Harini M" userId="ab62f287dbe2328f" providerId="LiveId" clId="{DAF2AF42-C941-44D2-8F1B-7E4A1CC005D3}" dt="2026-04-24T11:53:09.310" v="74" actId="478"/>
        <pc:sldMkLst>
          <pc:docMk/>
          <pc:sldMk cId="2381655200" sldId="270"/>
        </pc:sldMkLst>
        <pc:spChg chg="mod">
          <ac:chgData name="Harini M" userId="ab62f287dbe2328f" providerId="LiveId" clId="{DAF2AF42-C941-44D2-8F1B-7E4A1CC005D3}" dt="2026-04-24T11:52:58.735" v="72" actId="20577"/>
          <ac:spMkLst>
            <pc:docMk/>
            <pc:sldMk cId="2381655200" sldId="270"/>
            <ac:spMk id="2" creationId="{FD98FE63-55E1-8BEA-ED74-4A7F020084E1}"/>
          </ac:spMkLst>
        </pc:spChg>
        <pc:spChg chg="del mod">
          <ac:chgData name="Harini M" userId="ab62f287dbe2328f" providerId="LiveId" clId="{DAF2AF42-C941-44D2-8F1B-7E4A1CC005D3}" dt="2026-04-24T11:53:09.310" v="74" actId="478"/>
          <ac:spMkLst>
            <pc:docMk/>
            <pc:sldMk cId="2381655200" sldId="270"/>
            <ac:spMk id="3" creationId="{FCB74AD0-023B-0228-F316-3BB4FAB2C86F}"/>
          </ac:spMkLst>
        </pc:spChg>
      </pc:sldChg>
      <pc:sldChg chg="addSp delSp modSp add mod">
        <pc:chgData name="Harini M" userId="ab62f287dbe2328f" providerId="LiveId" clId="{DAF2AF42-C941-44D2-8F1B-7E4A1CC005D3}" dt="2026-04-24T11:53:58.079" v="85" actId="27636"/>
        <pc:sldMkLst>
          <pc:docMk/>
          <pc:sldMk cId="1434248013" sldId="271"/>
        </pc:sldMkLst>
        <pc:spChg chg="mod">
          <ac:chgData name="Harini M" userId="ab62f287dbe2328f" providerId="LiveId" clId="{DAF2AF42-C941-44D2-8F1B-7E4A1CC005D3}" dt="2026-04-24T11:53:58.079" v="85" actId="27636"/>
          <ac:spMkLst>
            <pc:docMk/>
            <pc:sldMk cId="1434248013" sldId="271"/>
            <ac:spMk id="2" creationId="{C1EA0F59-C1F5-3669-AF34-C54B410BDC7E}"/>
          </ac:spMkLst>
        </pc:spChg>
        <pc:spChg chg="del mod">
          <ac:chgData name="Harini M" userId="ab62f287dbe2328f" providerId="LiveId" clId="{DAF2AF42-C941-44D2-8F1B-7E4A1CC005D3}" dt="2026-04-24T11:53:42.524" v="81" actId="478"/>
          <ac:spMkLst>
            <pc:docMk/>
            <pc:sldMk cId="1434248013" sldId="271"/>
            <ac:spMk id="3" creationId="{537C5042-CB3D-954D-4411-C7507E9C5FCC}"/>
          </ac:spMkLst>
        </pc:spChg>
        <pc:spChg chg="add del mod">
          <ac:chgData name="Harini M" userId="ab62f287dbe2328f" providerId="LiveId" clId="{DAF2AF42-C941-44D2-8F1B-7E4A1CC005D3}" dt="2026-04-24T11:53:44.195" v="82" actId="478"/>
          <ac:spMkLst>
            <pc:docMk/>
            <pc:sldMk cId="1434248013" sldId="271"/>
            <ac:spMk id="6" creationId="{95F53A93-33AE-A3F2-7AB2-4D98C7A04699}"/>
          </ac:spMkLst>
        </pc:spChg>
      </pc:sldChg>
      <pc:sldChg chg="add del">
        <pc:chgData name="Harini M" userId="ab62f287dbe2328f" providerId="LiveId" clId="{DAF2AF42-C941-44D2-8F1B-7E4A1CC005D3}" dt="2026-04-24T11:53:23.853" v="76"/>
        <pc:sldMkLst>
          <pc:docMk/>
          <pc:sldMk cId="1521173673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0D2FE-6C8C-43CC-BB96-D23DB1F92685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D336A-78B9-451B-B801-FB2D50C3C3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73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D336A-78B9-451B-B801-FB2D50C3C32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75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6801D-7CB1-810C-98CF-C58182BE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A9972-920F-1634-B0B2-00BA4B4E8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F9EC4-B2A5-7D88-41AD-1D2E7970C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F79FF-03EB-CCBB-CF32-A10191740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D336A-78B9-451B-B801-FB2D50C3C32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758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17DF-1AF1-FC6D-423C-F75DF7157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438CF9-6BBD-56AD-ACF6-CDD6E8328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EF8DC-9655-90AB-333E-012238505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5B3AC-68D9-905B-BBA5-FF02538B7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D336A-78B9-451B-B801-FB2D50C3C32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35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18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3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92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4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12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0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3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3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4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0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2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389" y="1332413"/>
            <a:ext cx="7475220" cy="233853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400" dirty="0">
                <a:latin typeface="Bodoni MT Black" panose="02070A03080606020203" pitchFamily="18" charset="0"/>
              </a:rPr>
              <a:t>VILVAH </a:t>
            </a:r>
            <a:br>
              <a:rPr lang="en-IN" sz="4400" dirty="0">
                <a:latin typeface="Bodoni MT Black" panose="02070A03080606020203" pitchFamily="18" charset="0"/>
              </a:rPr>
            </a:br>
            <a:r>
              <a:rPr sz="4400" dirty="0">
                <a:latin typeface="Bodoni MT Black" panose="02070A03080606020203" pitchFamily="18" charset="0"/>
              </a:rPr>
              <a:t>Sales Analysis </a:t>
            </a:r>
            <a:br>
              <a:rPr lang="en-IN" sz="4400" dirty="0">
                <a:latin typeface="Bodoni MT Black" panose="02070A03080606020203" pitchFamily="18" charset="0"/>
              </a:rPr>
            </a:br>
            <a:r>
              <a:rPr sz="4400" dirty="0">
                <a:latin typeface="Bodoni MT Black" panose="02070A03080606020203" pitchFamily="18" charset="0"/>
              </a:rPr>
              <a:t>(2015–2025)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4052" y="3907979"/>
            <a:ext cx="6575895" cy="427062"/>
          </a:xfrm>
        </p:spPr>
        <p:txBody>
          <a:bodyPr>
            <a:normAutofit/>
          </a:bodyPr>
          <a:lstStyle/>
          <a:p>
            <a:r>
              <a:rPr sz="2400" dirty="0" err="1"/>
              <a:t>Vilvah</a:t>
            </a:r>
            <a:r>
              <a:rPr sz="2400" dirty="0"/>
              <a:t> Store </a:t>
            </a:r>
            <a:r>
              <a:rPr lang="en-IN" sz="2400" dirty="0"/>
              <a:t>Sales</a:t>
            </a:r>
            <a:r>
              <a:rPr sz="2400" dirty="0"/>
              <a:t>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967E29-7C81-7CE0-C76B-DCB2888ED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738" y="501796"/>
            <a:ext cx="1187172" cy="1187172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39003A-E69C-4402-0050-FAD6933AF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5B54955-1136-192C-3B29-796531FBD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56" y="1221658"/>
            <a:ext cx="6718026" cy="4567576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dirty="0"/>
              <a:t> The dataset used for this analysis represents the sales performance of </a:t>
            </a:r>
            <a:r>
              <a:rPr lang="en-US" sz="2900" u="sng" dirty="0"/>
              <a:t>VILVAH STORE  </a:t>
            </a:r>
            <a:r>
              <a:rPr lang="en-US" sz="2900" dirty="0"/>
              <a:t>over a period of </a:t>
            </a:r>
            <a:r>
              <a:rPr lang="en-US" sz="2900" b="1" dirty="0"/>
              <a:t>10 years (2015–2025)</a:t>
            </a:r>
            <a:r>
              <a:rPr lang="en-US" sz="2900" dirty="0"/>
              <a:t>. It captures detailed information about customer behavior, product performance, and overall business trends.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dirty="0"/>
              <a:t> The data includes multiple dimensions such as: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b="1" dirty="0"/>
              <a:t> Customer Demographics</a:t>
            </a:r>
            <a:r>
              <a:rPr lang="en-US" sz="2900" dirty="0"/>
              <a:t> – Gender and Age groups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b="1" dirty="0"/>
              <a:t> Geographical Data</a:t>
            </a:r>
            <a:r>
              <a:rPr lang="en-US" sz="2900" dirty="0"/>
              <a:t> – Sales across different cities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b="1" dirty="0"/>
              <a:t> Product Information</a:t>
            </a:r>
            <a:r>
              <a:rPr lang="en-US" sz="2900" dirty="0"/>
              <a:t> – Various skincare products and categories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b="1" dirty="0"/>
              <a:t>Time-Based Data</a:t>
            </a:r>
            <a:r>
              <a:rPr lang="en-US" sz="2900" dirty="0"/>
              <a:t> – Yearly and monthly sales trends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900" b="1" dirty="0"/>
              <a:t> Customer Feedback</a:t>
            </a:r>
            <a:r>
              <a:rPr lang="en-US" sz="2900" dirty="0"/>
              <a:t> – Ratings and satisfaction levels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AF6AA40-8905-8C10-0FBD-346FBE15D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8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B3FA-546D-7DCB-7962-AFBF04FF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C8BA04-10D0-AF93-5B71-44FFB01D9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CF857D9-1C41-F421-BD3F-8F3438524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8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1B54-3B95-0319-3A5F-1221A49417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700" y="1071303"/>
            <a:ext cx="6717481" cy="4715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The dataset was already clean and well-structured.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There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no null (missing)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in the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There were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no duplicate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found.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A new column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Rating 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was created for better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Another column 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Month of Ordered 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was added to understand monthly trends.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These additions help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</a:rPr>
              <a:t>better visualization and reporting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252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F277-E2AB-E7EA-8895-36AAFAF9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619E-23BF-574C-FEED-1C19D21B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3" y="197137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KEY PERFORMANCE INDICATORS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56C55C-F496-BB2D-9D13-613252892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EB280AB-8C1F-174E-ACDF-13246F28E6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2498" y="1185950"/>
            <a:ext cx="6888173" cy="44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Total Revenue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₹6,10,53,550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– Represents the total income generated from sales during the period.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Total Sales Volume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50,000 Units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– Indicates the total number of products sold.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Average Customer Rating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4.0 / 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– Reflects overall customer satisfaction and product quality.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Customer Distribution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Balanced sales across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gender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and wide coverage across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age groups (18–50)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.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Top Performing Cities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+mj-lt"/>
              </a:rPr>
              <a:t>Cities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Mumbai, Hyderabad,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+mj-lt"/>
              </a:rPr>
              <a:t>and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 Coimbatore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j-lt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show strong sales performance. </a:t>
            </a:r>
          </a:p>
        </p:txBody>
      </p:sp>
    </p:spTree>
    <p:extLst>
      <p:ext uri="{BB962C8B-B14F-4D97-AF65-F5344CB8AC3E}">
        <p14:creationId xmlns:p14="http://schemas.microsoft.com/office/powerpoint/2010/main" val="268118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D2D4-642C-F62D-144D-FF5F60B6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FE63-55E1-8BEA-ED74-4A7F02008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389" y="1324968"/>
            <a:ext cx="7475220" cy="2338535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Bodoni MT Black" panose="02070A03080606020203" pitchFamily="18" charset="0"/>
              </a:rPr>
              <a:t> </a:t>
            </a:r>
            <a:br>
              <a:rPr lang="en-IN" sz="4400" dirty="0">
                <a:latin typeface="Bodoni MT Black" panose="02070A03080606020203" pitchFamily="18" charset="0"/>
              </a:rPr>
            </a:br>
            <a:r>
              <a:rPr sz="4400" dirty="0">
                <a:latin typeface="Bodoni MT Black" panose="02070A03080606020203" pitchFamily="18" charset="0"/>
              </a:rPr>
              <a:t>Sales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16A4B1-B839-B840-81BE-D343A4017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206" y="553138"/>
            <a:ext cx="1392704" cy="1392704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381655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934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GENDER-WISE SALES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0" y="4325795"/>
            <a:ext cx="8229600" cy="17606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 </a:t>
            </a:r>
            <a:r>
              <a:rPr dirty="0"/>
              <a:t>Sales are </a:t>
            </a:r>
            <a:r>
              <a:rPr dirty="0">
                <a:solidFill>
                  <a:schemeClr val="accent5">
                    <a:lumMod val="50000"/>
                  </a:schemeClr>
                </a:solidFill>
              </a:rPr>
              <a:t>evenly split </a:t>
            </a:r>
            <a:r>
              <a:rPr dirty="0"/>
              <a:t>between </a:t>
            </a:r>
            <a:r>
              <a:rPr dirty="0">
                <a:solidFill>
                  <a:schemeClr val="accent5">
                    <a:lumMod val="50000"/>
                  </a:schemeClr>
                </a:solidFill>
              </a:rPr>
              <a:t>Male</a:t>
            </a:r>
            <a:r>
              <a:rPr dirty="0"/>
              <a:t> and </a:t>
            </a:r>
            <a:r>
              <a:rPr dirty="0">
                <a:solidFill>
                  <a:schemeClr val="accent5">
                    <a:lumMod val="50000"/>
                  </a:schemeClr>
                </a:solidFill>
              </a:rPr>
              <a:t>Female</a:t>
            </a:r>
            <a:r>
              <a:rPr dirty="0"/>
              <a:t> customers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 </a:t>
            </a:r>
            <a:r>
              <a:rPr dirty="0"/>
              <a:t>No major dominance observed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 </a:t>
            </a:r>
            <a:r>
              <a:rPr dirty="0"/>
              <a:t>Balanced target audience 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14CC5-202B-553C-E9C2-665F8DF98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26" y="1563329"/>
            <a:ext cx="4363059" cy="22767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6C2A1D-3AF5-8F81-7DBD-9044C8E3A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263" y="216310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TOP 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793" y="4273127"/>
            <a:ext cx="3467540" cy="221029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  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Highest Performing   Products – 13%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 Aloe Vera Gel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 Sunscreen SPF 50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 Vitamin C Serum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 Milk Drops Serum</a:t>
            </a:r>
          </a:p>
          <a:p>
            <a:pPr marL="34290" indent="0"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B441B5-5345-70C7-3F22-0A3C9428E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97" y="1563329"/>
            <a:ext cx="5386952" cy="24825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A12C67-4559-931F-3607-2D54E5F13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D8FE33-C95E-2B37-CB64-1582ADC2B710}"/>
              </a:ext>
            </a:extLst>
          </p:cNvPr>
          <p:cNvSpPr txBox="1"/>
          <p:nvPr/>
        </p:nvSpPr>
        <p:spPr>
          <a:xfrm>
            <a:off x="5093109" y="4331283"/>
            <a:ext cx="291693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Lowest Performing Products – 12%</a:t>
            </a:r>
            <a:r>
              <a:rPr lang="en-IN" dirty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</a:rPr>
              <a:t>Body Butter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</a:rPr>
              <a:t>Charcoal Soap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</a:rPr>
              <a:t>Honey Face Wash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/>
                </a:solidFill>
              </a:rPr>
              <a:t>Lip Balm </a:t>
            </a:r>
          </a:p>
          <a:p>
            <a:endParaRPr lang="en-IN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766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CATEGORY-WISE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766" y="4199357"/>
            <a:ext cx="7404653" cy="135636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  Unlike product performance, category sales are highly skewed, where </a:t>
            </a:r>
            <a:r>
              <a:rPr lang="en-US" b="1" dirty="0"/>
              <a:t>Serum alone contributes 42%</a:t>
            </a:r>
            <a:r>
              <a:rPr lang="en-US" dirty="0"/>
              <a:t>, while </a:t>
            </a:r>
            <a:r>
              <a:rPr lang="en-US" b="1" dirty="0"/>
              <a:t>Soap contributes only 4%</a:t>
            </a:r>
            <a:r>
              <a:rPr lang="en-US" dirty="0"/>
              <a:t>, showing a </a:t>
            </a:r>
            <a:r>
              <a:rPr lang="en-US" b="1" dirty="0"/>
              <a:t>38% gap between highest and lowest categories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593BB-CB30-96DF-D99C-19C536AB4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12" y="1563329"/>
            <a:ext cx="5191850" cy="23148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4FAB81-DDD8-11C5-3CEE-D1362D3E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168" y="216801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YEAR-WISE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673" y="4213614"/>
            <a:ext cx="7404653" cy="1841091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/>
              <a:t>     The sales trend shows a </a:t>
            </a:r>
            <a:r>
              <a:rPr lang="en-US" b="1" dirty="0"/>
              <a:t>stable performance</a:t>
            </a:r>
            <a:r>
              <a:rPr lang="en-US" dirty="0"/>
              <a:t>, with peaks in </a:t>
            </a:r>
            <a:r>
              <a:rPr lang="en-US" b="1" dirty="0"/>
              <a:t>2015 and 2019 (~57.5 Lakhs)</a:t>
            </a:r>
            <a:r>
              <a:rPr lang="en-US" dirty="0"/>
              <a:t> and a lowest point around </a:t>
            </a:r>
            <a:r>
              <a:rPr lang="en-US" b="1" dirty="0"/>
              <a:t>54 Lakhs</a:t>
            </a:r>
            <a:r>
              <a:rPr lang="en-US" dirty="0"/>
              <a:t>, resulting in a </a:t>
            </a:r>
            <a:r>
              <a:rPr lang="en-US" b="1" dirty="0"/>
              <a:t>small variation of ~3.4 Lakhs</a:t>
            </a:r>
            <a:r>
              <a:rPr lang="en-US" dirty="0"/>
              <a:t>, indicating consistent business stability.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5EFD5-D6D7-4119-4B5E-50D518783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41" y="1573161"/>
            <a:ext cx="5277587" cy="2419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6BD6DA-8FAB-24F4-008C-8FD4D4AD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CUSTOMER 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238" y="4290060"/>
            <a:ext cx="7404653" cy="120395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  Sales peak at age 26 (~20.85 Lakhs), with the lowest contribution from early-age customers (~18–20 years at ~17.5–18 Lakhs) and an average around ~19.3 Lakhs, indicating stable performance across all age groups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8B9EE-0DE6-5EEB-8269-7F8F3E7EF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136" y="1563329"/>
            <a:ext cx="4982270" cy="23625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AC6DA4-73DE-0166-C413-D0D7C6D7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264" y="187304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CITY-WISE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7588" y="3968300"/>
            <a:ext cx="7404653" cy="1356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  City-wise sales remain stable, with Mumbai leading at ~103.61 Lakhs and Bangalore at the lower end (~100.08 Lakhs), resulting in a narrow variation of ~3.5 Lakhs and an average around ~102 Lakhs, indicating consistent performance across all major cities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F9AA2-6F44-75D9-DDAF-1277FF758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40" y="1563329"/>
            <a:ext cx="3924848" cy="21720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A794C2-CDF1-CA07-F293-D3F800B3C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168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QUARTERLY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385" y="4223445"/>
            <a:ext cx="7404653" cy="1909917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Q3 recorded the highest sales (15,400,000), Q4 the lowest (15,100,000), with an average quarterly sales of 15,275,000.</a:t>
            </a:r>
            <a:endParaRPr lang="en-IN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Seasonal demand impact observed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37F18-BF7B-8A0A-ED5C-0E74CFCF5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43" y="1563329"/>
            <a:ext cx="3715268" cy="22291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4EF5A-54D9-FC97-22C3-B69FFBA7F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168" y="206969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MONTHLY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4200224"/>
            <a:ext cx="7404653" cy="120395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Sales peak around July–September (~5.15M–5.2M), while early months remain lower (~4.95M–5.05M), highlighting clear opportunities for marketing during low-sales periods.</a:t>
            </a:r>
            <a:endParaRPr lang="en-IN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dirty="0"/>
              <a:t>Marketing opportunities in low months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514F5-0964-6707-F243-E31409DE3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2" y="1538432"/>
            <a:ext cx="3905795" cy="22386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48FA08-B6D9-F3B2-5271-AE4F4EC93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B710-21E6-AD40-E97F-CDEFCFE3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E03CA9-C016-BA38-D4C3-A5F35DA10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003E20-69AF-8A54-AFCF-E6EDFF4A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607" y="320040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3C7841-DF45-12C9-53DC-3D43EE5A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5" y="1789471"/>
            <a:ext cx="8086864" cy="377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54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043" y="518160"/>
            <a:ext cx="7406640" cy="1356360"/>
          </a:xfrm>
        </p:spPr>
        <p:txBody>
          <a:bodyPr>
            <a:normAutofit/>
          </a:bodyPr>
          <a:lstStyle/>
          <a:p>
            <a:r>
              <a:rPr lang="en-IN" sz="3500" b="1"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043" y="1874520"/>
            <a:ext cx="7404653" cy="40386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Sales are highest in mid-year (July to September)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Early months have lower sales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Clear seasonal trend is observed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Marketing can improve low-sales months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  Focus more on peak months to maximize profit </a:t>
            </a:r>
          </a:p>
          <a:p>
            <a:pPr marL="3429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F8BE7-48D7-B24D-DBD2-C5BCEEA2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24" y="518160"/>
            <a:ext cx="1045169" cy="1045169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D4FD-1142-3315-9C2A-51E07605D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0F59-C1F5-3669-AF34-C54B410BD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389" y="2497394"/>
            <a:ext cx="7475220" cy="1166109"/>
          </a:xfrm>
        </p:spPr>
        <p:txBody>
          <a:bodyPr>
            <a:normAutofit fontScale="90000"/>
          </a:bodyPr>
          <a:lstStyle/>
          <a:p>
            <a:r>
              <a:rPr lang="en-IN" sz="6600" dirty="0">
                <a:latin typeface="Bodoni MT Black" panose="02070A03080606020203" pitchFamily="18" charset="0"/>
              </a:rPr>
              <a:t> </a:t>
            </a:r>
            <a:br>
              <a:rPr lang="en-IN" sz="6600" dirty="0">
                <a:latin typeface="Bodoni MT Black" panose="02070A03080606020203" pitchFamily="18" charset="0"/>
              </a:rPr>
            </a:br>
            <a:r>
              <a:rPr lang="en-IN" sz="6600" dirty="0"/>
              <a:t>THANK YOU</a:t>
            </a:r>
            <a:endParaRPr sz="6600" dirty="0">
              <a:latin typeface="Bodoni MT Black" panose="02070A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1F697-7A54-A032-FA00-3298D82A3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206" y="553138"/>
            <a:ext cx="1392704" cy="1392704"/>
          </a:xfrm>
          <a:prstGeom prst="ellipse">
            <a:avLst/>
          </a:prstGeom>
          <a:ln w="190500" cap="rnd">
            <a:solidFill>
              <a:schemeClr val="accent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43424801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98</TotalTime>
  <Words>607</Words>
  <Application>Microsoft Office PowerPoint</Application>
  <PresentationFormat>On-screen Show (4:3)</PresentationFormat>
  <Paragraphs>65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Bodoni MT Black</vt:lpstr>
      <vt:lpstr>Corbel</vt:lpstr>
      <vt:lpstr>Wingdings</vt:lpstr>
      <vt:lpstr>Basis</vt:lpstr>
      <vt:lpstr>VILVAH  Sales Analysis  (2015–2025)</vt:lpstr>
      <vt:lpstr>INTRODUCTION</vt:lpstr>
      <vt:lpstr>DATA PROCESSING</vt:lpstr>
      <vt:lpstr>KEY PERFORMANCE INDICATORS</vt:lpstr>
      <vt:lpstr>  Sales Analysis </vt:lpstr>
      <vt:lpstr>GENDER-WISE SALES INSIGHTS</vt:lpstr>
      <vt:lpstr>TOP PRODUCT PERFORMANCE</vt:lpstr>
      <vt:lpstr>CATEGORY-WISE SALES</vt:lpstr>
      <vt:lpstr>YEAR-WISE SALES TREND</vt:lpstr>
      <vt:lpstr>CUSTOMER AGE ANALYSIS</vt:lpstr>
      <vt:lpstr>CITY-WISE PERFORMANCE</vt:lpstr>
      <vt:lpstr>QUARTERLY SALES ANALYSIS</vt:lpstr>
      <vt:lpstr>MONTHLY SALES TRENDS</vt:lpstr>
      <vt:lpstr>DASHBOARD</vt:lpstr>
      <vt:lpstr>KEY BUSINESS INSIGHTS</vt:lpstr>
      <vt:lpstr>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MCHK</dc:creator>
  <cp:keywords/>
  <dc:description>generated using python-pptx</dc:description>
  <cp:lastModifiedBy>Harini M</cp:lastModifiedBy>
  <cp:revision>2</cp:revision>
  <dcterms:created xsi:type="dcterms:W3CDTF">2013-01-27T09:14:16Z</dcterms:created>
  <dcterms:modified xsi:type="dcterms:W3CDTF">2026-04-24T11:57:19Z</dcterms:modified>
  <cp:category/>
</cp:coreProperties>
</file>